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87352-2B4E-480C-BCD0-55058CFCC3D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F36DE-1ED6-4461-9C37-6E390F331C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836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6E4A05E6-F5B8-AE6D-84C7-365533599BE2}"/>
              </a:ext>
            </a:extLst>
          </p:cNvPr>
          <p:cNvSpPr/>
          <p:nvPr userDrawn="1"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6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8B1032CB-F04A-5655-C612-DF08B5B44F4D}"/>
              </a:ext>
            </a:extLst>
          </p:cNvPr>
          <p:cNvSpPr/>
          <p:nvPr userDrawn="1"/>
        </p:nvSpPr>
        <p:spPr>
          <a:xfrm>
            <a:off x="2540000" y="6446520"/>
            <a:ext cx="911860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9" name="Slide Number Placeholder 0">
            <a:extLst>
              <a:ext uri="{FF2B5EF4-FFF2-40B4-BE49-F238E27FC236}">
                <a16:creationId xmlns:a16="http://schemas.microsoft.com/office/drawing/2014/main" id="{E677215F-6CCA-137F-206A-8263169E24B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9F15B73-B047-1CC0-A7ED-791E35BCFC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74165"/>
            <a:ext cx="2495534" cy="88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72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6E4A05E6-F5B8-AE6D-84C7-365533599BE2}"/>
              </a:ext>
            </a:extLst>
          </p:cNvPr>
          <p:cNvSpPr/>
          <p:nvPr userDrawn="1"/>
        </p:nvSpPr>
        <p:spPr>
          <a:xfrm>
            <a:off x="0" y="-1"/>
            <a:ext cx="12191695" cy="664232"/>
          </a:xfrm>
          <a:prstGeom prst="rect">
            <a:avLst/>
          </a:prstGeom>
          <a:solidFill>
            <a:srgbClr val="143156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8B1032CB-F04A-5655-C612-DF08B5B44F4D}"/>
              </a:ext>
            </a:extLst>
          </p:cNvPr>
          <p:cNvSpPr/>
          <p:nvPr userDrawn="1"/>
        </p:nvSpPr>
        <p:spPr>
          <a:xfrm>
            <a:off x="2540000" y="6446520"/>
            <a:ext cx="911860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9" name="Slide Number Placeholder 0">
            <a:extLst>
              <a:ext uri="{FF2B5EF4-FFF2-40B4-BE49-F238E27FC236}">
                <a16:creationId xmlns:a16="http://schemas.microsoft.com/office/drawing/2014/main" id="{E677215F-6CCA-137F-206A-8263169E24B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9F15B73-B047-1CC0-A7ED-791E35BCFC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74165"/>
            <a:ext cx="2495534" cy="88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9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0">
            <a:extLst>
              <a:ext uri="{FF2B5EF4-FFF2-40B4-BE49-F238E27FC236}">
                <a16:creationId xmlns:a16="http://schemas.microsoft.com/office/drawing/2014/main" id="{F4A24FA7-0287-125F-09E6-1A56343F8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17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2.emf"/><Relationship Id="rId18" Type="http://schemas.openxmlformats.org/officeDocument/2006/relationships/oleObject" Target="../embeddings/oleObject23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4.w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1.wmf"/><Relationship Id="rId5" Type="http://schemas.openxmlformats.org/officeDocument/2006/relationships/image" Target="../media/image18.emf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5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21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A54AC2E-5269-577C-79DF-B23345BE6F0F}"/>
              </a:ext>
            </a:extLst>
          </p:cNvPr>
          <p:cNvSpPr txBox="1"/>
          <p:nvPr/>
        </p:nvSpPr>
        <p:spPr>
          <a:xfrm>
            <a:off x="822960" y="123444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1A365D"/>
                </a:solidFill>
                <a:latin typeface="Aptos"/>
              </a:rPr>
              <a:t>Direct Stiffness Method Program
for 3D Structural Analysis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2FDC729-8B45-EEEE-65C6-1BBDDF788D07}"/>
              </a:ext>
            </a:extLst>
          </p:cNvPr>
          <p:cNvSpPr/>
          <p:nvPr/>
        </p:nvSpPr>
        <p:spPr>
          <a:xfrm>
            <a:off x="1097280" y="28803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2000" i="1" dirty="0">
                <a:solidFill>
                  <a:srgbClr val="555555"/>
                </a:solidFill>
                <a:latin typeface="Aptos" pitchFamily="34" charset="0"/>
              </a:rPr>
              <a:t>A Simplified DSM Solver and Validation Example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3AE99F8-2811-8416-FFC5-B5D67E93A7FE}"/>
              </a:ext>
            </a:extLst>
          </p:cNvPr>
          <p:cNvSpPr/>
          <p:nvPr/>
        </p:nvSpPr>
        <p:spPr>
          <a:xfrm>
            <a:off x="3200400" y="48006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Siyuan Wang</a:t>
            </a:r>
            <a:r>
              <a:rPr lang="en-US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| CEE6501 | 04/24/2026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6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62847C4-FE5F-7467-DD22-2E02BE04E6F3}"/>
              </a:ext>
            </a:extLst>
          </p:cNvPr>
          <p:cNvSpPr txBox="1"/>
          <p:nvPr/>
        </p:nvSpPr>
        <p:spPr>
          <a:xfrm>
            <a:off x="502920" y="1097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Aptos"/>
              </a:rPr>
              <a:t>Project Objective and Workflow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CF839B7E-CCD9-5640-091C-6CC51F6096B1}"/>
              </a:ext>
            </a:extLst>
          </p:cNvPr>
          <p:cNvSpPr/>
          <p:nvPr/>
        </p:nvSpPr>
        <p:spPr>
          <a:xfrm>
            <a:off x="525780" y="984115"/>
            <a:ext cx="2103120" cy="347472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rgbClr val="2F5597"/>
                </a:solidFill>
                <a:latin typeface="Aptos"/>
              </a:rPr>
              <a:t>Overview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891F74C8-9994-68B9-DE78-EE79FF901122}"/>
              </a:ext>
            </a:extLst>
          </p:cNvPr>
          <p:cNvSpPr txBox="1"/>
          <p:nvPr/>
        </p:nvSpPr>
        <p:spPr>
          <a:xfrm>
            <a:off x="617220" y="1468747"/>
            <a:ext cx="5486400" cy="4311950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l"/>
              <a:defRPr sz="21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A Direct Stiffness Method program is developed for 3D truss, frame, and hybrid truss-frame systems.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l"/>
              <a:defRPr sz="21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A JSON input file is used to define geometry, supports, materials, sections, and loading.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l"/>
              <a:defRPr sz="21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One consistent pipeline is followed: read input → element routines → assembly → partition → solve → postprocess.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l"/>
              <a:defRPr sz="21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Displacement, reaction, and member-force tables are exported, and the deformed shape is visualized in the notebook.</a:t>
            </a:r>
            <a:endParaRPr sz="2000" dirty="0"/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2C4A83A7-1C08-8EE8-0532-51F9D5D514F7}"/>
              </a:ext>
            </a:extLst>
          </p:cNvPr>
          <p:cNvSpPr/>
          <p:nvPr/>
        </p:nvSpPr>
        <p:spPr>
          <a:xfrm>
            <a:off x="6400800" y="1783080"/>
            <a:ext cx="507492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2FFDD594-DBED-93AC-FA92-0687037004C6}"/>
              </a:ext>
            </a:extLst>
          </p:cNvPr>
          <p:cNvSpPr/>
          <p:nvPr/>
        </p:nvSpPr>
        <p:spPr>
          <a:xfrm>
            <a:off x="6903720" y="2057400"/>
            <a:ext cx="4069080" cy="420624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1A365D"/>
                </a:solidFill>
                <a:latin typeface="Aptos"/>
              </a:rPr>
              <a:t>JSON Input</a:t>
            </a:r>
          </a:p>
        </p:txBody>
      </p:sp>
      <p:sp>
        <p:nvSpPr>
          <p:cNvPr id="7" name="Down Arrow 8">
            <a:extLst>
              <a:ext uri="{FF2B5EF4-FFF2-40B4-BE49-F238E27FC236}">
                <a16:creationId xmlns:a16="http://schemas.microsoft.com/office/drawing/2014/main" id="{9A55E8AC-B63C-5E14-9939-DEBEEA260DB4}"/>
              </a:ext>
            </a:extLst>
          </p:cNvPr>
          <p:cNvSpPr/>
          <p:nvPr/>
        </p:nvSpPr>
        <p:spPr>
          <a:xfrm>
            <a:off x="8412480" y="2496312"/>
            <a:ext cx="822960" cy="274320"/>
          </a:xfrm>
          <a:prstGeom prst="down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3AEB86E5-6365-46DF-3706-F7E19A06EBF9}"/>
              </a:ext>
            </a:extLst>
          </p:cNvPr>
          <p:cNvSpPr/>
          <p:nvPr/>
        </p:nvSpPr>
        <p:spPr>
          <a:xfrm>
            <a:off x="6903720" y="2679192"/>
            <a:ext cx="4069080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1A365D"/>
                </a:solidFill>
                <a:latin typeface="Aptos"/>
              </a:rPr>
              <a:t>Element Quantities</a:t>
            </a:r>
          </a:p>
        </p:txBody>
      </p:sp>
      <p:sp>
        <p:nvSpPr>
          <p:cNvPr id="9" name="Down Arrow 10">
            <a:extLst>
              <a:ext uri="{FF2B5EF4-FFF2-40B4-BE49-F238E27FC236}">
                <a16:creationId xmlns:a16="http://schemas.microsoft.com/office/drawing/2014/main" id="{A4020F13-A711-B96C-FAA0-3451BCC07BD3}"/>
              </a:ext>
            </a:extLst>
          </p:cNvPr>
          <p:cNvSpPr/>
          <p:nvPr/>
        </p:nvSpPr>
        <p:spPr>
          <a:xfrm>
            <a:off x="8412480" y="3118104"/>
            <a:ext cx="822960" cy="274320"/>
          </a:xfrm>
          <a:prstGeom prst="down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8CB93C46-7BEB-7F36-E836-0760FD031215}"/>
              </a:ext>
            </a:extLst>
          </p:cNvPr>
          <p:cNvSpPr/>
          <p:nvPr/>
        </p:nvSpPr>
        <p:spPr>
          <a:xfrm>
            <a:off x="6903720" y="3300984"/>
            <a:ext cx="4069080" cy="420624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A365D"/>
                </a:solidFill>
                <a:latin typeface="Aptos"/>
              </a:rPr>
              <a:t>Global Assembly</a:t>
            </a:r>
          </a:p>
        </p:txBody>
      </p:sp>
      <p:sp>
        <p:nvSpPr>
          <p:cNvPr id="11" name="Down Arrow 12">
            <a:extLst>
              <a:ext uri="{FF2B5EF4-FFF2-40B4-BE49-F238E27FC236}">
                <a16:creationId xmlns:a16="http://schemas.microsoft.com/office/drawing/2014/main" id="{92D51FEF-87F7-310A-9EFF-4AC0A4DEB6AF}"/>
              </a:ext>
            </a:extLst>
          </p:cNvPr>
          <p:cNvSpPr/>
          <p:nvPr/>
        </p:nvSpPr>
        <p:spPr>
          <a:xfrm>
            <a:off x="8412480" y="3739896"/>
            <a:ext cx="822960" cy="274320"/>
          </a:xfrm>
          <a:prstGeom prst="down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8DD8A5A7-A5BD-1202-F5EF-0F22657A0BDB}"/>
              </a:ext>
            </a:extLst>
          </p:cNvPr>
          <p:cNvSpPr/>
          <p:nvPr/>
        </p:nvSpPr>
        <p:spPr>
          <a:xfrm>
            <a:off x="6903720" y="3922776"/>
            <a:ext cx="4069080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1A365D"/>
                </a:solidFill>
                <a:latin typeface="Aptos"/>
              </a:rPr>
              <a:t>Partition</a:t>
            </a:r>
            <a:endParaRPr sz="2000" b="1" dirty="0">
              <a:solidFill>
                <a:srgbClr val="1A365D"/>
              </a:solidFill>
              <a:latin typeface="Aptos"/>
            </a:endParaRPr>
          </a:p>
        </p:txBody>
      </p:sp>
      <p:sp>
        <p:nvSpPr>
          <p:cNvPr id="13" name="Down Arrow 14">
            <a:extLst>
              <a:ext uri="{FF2B5EF4-FFF2-40B4-BE49-F238E27FC236}">
                <a16:creationId xmlns:a16="http://schemas.microsoft.com/office/drawing/2014/main" id="{C62C69CB-C94C-7D4C-5D95-7B1DC5E6E6C8}"/>
              </a:ext>
            </a:extLst>
          </p:cNvPr>
          <p:cNvSpPr/>
          <p:nvPr/>
        </p:nvSpPr>
        <p:spPr>
          <a:xfrm>
            <a:off x="8412480" y="4361688"/>
            <a:ext cx="822960" cy="274320"/>
          </a:xfrm>
          <a:prstGeom prst="down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06E45CA7-9570-1CF4-D1F6-96A5553AC3DF}"/>
              </a:ext>
            </a:extLst>
          </p:cNvPr>
          <p:cNvSpPr/>
          <p:nvPr/>
        </p:nvSpPr>
        <p:spPr>
          <a:xfrm>
            <a:off x="6903720" y="4544568"/>
            <a:ext cx="4069080" cy="420624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A365D"/>
                </a:solidFill>
                <a:latin typeface="Aptos"/>
              </a:rPr>
              <a:t>Solve</a:t>
            </a:r>
          </a:p>
        </p:txBody>
      </p:sp>
      <p:sp>
        <p:nvSpPr>
          <p:cNvPr id="15" name="Down Arrow 16">
            <a:extLst>
              <a:ext uri="{FF2B5EF4-FFF2-40B4-BE49-F238E27FC236}">
                <a16:creationId xmlns:a16="http://schemas.microsoft.com/office/drawing/2014/main" id="{77BC59F4-9B6E-445E-DB54-F195331439B8}"/>
              </a:ext>
            </a:extLst>
          </p:cNvPr>
          <p:cNvSpPr/>
          <p:nvPr/>
        </p:nvSpPr>
        <p:spPr>
          <a:xfrm>
            <a:off x="8412480" y="4983479"/>
            <a:ext cx="822960" cy="274320"/>
          </a:xfrm>
          <a:prstGeom prst="down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7">
            <a:extLst>
              <a:ext uri="{FF2B5EF4-FFF2-40B4-BE49-F238E27FC236}">
                <a16:creationId xmlns:a16="http://schemas.microsoft.com/office/drawing/2014/main" id="{E2B53318-8882-713C-FAF1-DC69F19CAA17}"/>
              </a:ext>
            </a:extLst>
          </p:cNvPr>
          <p:cNvSpPr/>
          <p:nvPr/>
        </p:nvSpPr>
        <p:spPr>
          <a:xfrm>
            <a:off x="6903720" y="5166359"/>
            <a:ext cx="4069080" cy="420624"/>
          </a:xfrm>
          <a:prstGeom prst="roundRect">
            <a:avLst/>
          </a:prstGeom>
          <a:solidFill>
            <a:srgbClr val="F4F7FB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A365D"/>
                </a:solidFill>
                <a:latin typeface="Aptos"/>
              </a:rPr>
              <a:t>Postprocess</a:t>
            </a:r>
          </a:p>
        </p:txBody>
      </p:sp>
    </p:spTree>
    <p:extLst>
      <p:ext uri="{BB962C8B-B14F-4D97-AF65-F5344CB8AC3E}">
        <p14:creationId xmlns:p14="http://schemas.microsoft.com/office/powerpoint/2010/main" val="251185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FD98048-5919-8328-842E-A7A4068DD5F3}"/>
              </a:ext>
            </a:extLst>
          </p:cNvPr>
          <p:cNvSpPr txBox="1"/>
          <p:nvPr/>
        </p:nvSpPr>
        <p:spPr>
          <a:xfrm>
            <a:off x="502920" y="1097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Aptos"/>
              </a:rPr>
              <a:t>Validation Strategy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3F5B0D94-EDB7-7B35-8D52-9C393132F113}"/>
              </a:ext>
            </a:extLst>
          </p:cNvPr>
          <p:cNvSpPr txBox="1"/>
          <p:nvPr/>
        </p:nvSpPr>
        <p:spPr>
          <a:xfrm>
            <a:off x="685800" y="1450109"/>
            <a:ext cx="10972800" cy="548640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2D2D2D"/>
                </a:solidFill>
                <a:latin typeface="Aptos"/>
              </a:defRPr>
            </a:pPr>
            <a:r>
              <a:rPr dirty="0"/>
              <a:t>The code is checked feature by feature before it is used for the final bridge model.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8B3C75DB-D459-8600-142E-C733CDC4676F}"/>
              </a:ext>
            </a:extLst>
          </p:cNvPr>
          <p:cNvSpPr/>
          <p:nvPr/>
        </p:nvSpPr>
        <p:spPr>
          <a:xfrm>
            <a:off x="594360" y="2638829"/>
            <a:ext cx="5486400" cy="3338484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C27044B-3965-C359-D8A4-F55F76E7D7EC}"/>
              </a:ext>
            </a:extLst>
          </p:cNvPr>
          <p:cNvSpPr/>
          <p:nvPr/>
        </p:nvSpPr>
        <p:spPr>
          <a:xfrm>
            <a:off x="594360" y="1998749"/>
            <a:ext cx="54864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93AE5C4A-58C4-734E-555A-C1FB24C1022F}"/>
              </a:ext>
            </a:extLst>
          </p:cNvPr>
          <p:cNvSpPr txBox="1"/>
          <p:nvPr/>
        </p:nvSpPr>
        <p:spPr>
          <a:xfrm>
            <a:off x="758952" y="2025721"/>
            <a:ext cx="312438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1A365D"/>
                </a:solidFill>
                <a:latin typeface="Aptos"/>
              </a:rPr>
              <a:t>Truss Validation (4 cases)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183AB61F-CA9B-74C6-3997-E4BBCCFD8A8A}"/>
              </a:ext>
            </a:extLst>
          </p:cNvPr>
          <p:cNvSpPr txBox="1"/>
          <p:nvPr/>
        </p:nvSpPr>
        <p:spPr>
          <a:xfrm>
            <a:off x="758952" y="2953512"/>
            <a:ext cx="5212080" cy="1834348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Nodal loads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Support displacement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Temperature load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Fabrication error</a:t>
            </a: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659C0289-200E-D82B-46A3-D6CE0692E268}"/>
              </a:ext>
            </a:extLst>
          </p:cNvPr>
          <p:cNvSpPr/>
          <p:nvPr/>
        </p:nvSpPr>
        <p:spPr>
          <a:xfrm>
            <a:off x="6355080" y="2638829"/>
            <a:ext cx="5257800" cy="3338484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3F54B6A3-C271-2444-3AA4-20F2F823FB30}"/>
              </a:ext>
            </a:extLst>
          </p:cNvPr>
          <p:cNvSpPr/>
          <p:nvPr/>
        </p:nvSpPr>
        <p:spPr>
          <a:xfrm>
            <a:off x="6355080" y="1998749"/>
            <a:ext cx="52578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D982F6F1-0121-B0C2-04A4-4C55177DA555}"/>
              </a:ext>
            </a:extLst>
          </p:cNvPr>
          <p:cNvSpPr txBox="1"/>
          <p:nvPr/>
        </p:nvSpPr>
        <p:spPr>
          <a:xfrm>
            <a:off x="6519672" y="2025721"/>
            <a:ext cx="32308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1A365D"/>
                </a:solidFill>
                <a:latin typeface="Aptos"/>
              </a:rPr>
              <a:t>Frame Validation (6 cases)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B16E2830-640D-5C64-D99C-E6FC021893D6}"/>
              </a:ext>
            </a:extLst>
          </p:cNvPr>
          <p:cNvSpPr txBox="1"/>
          <p:nvPr/>
        </p:nvSpPr>
        <p:spPr>
          <a:xfrm>
            <a:off x="6519672" y="2953512"/>
            <a:ext cx="4983480" cy="2798715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Nodal moments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Distributed member loads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Moment release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Support displacement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Temperature load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Fabrication error</a:t>
            </a: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829B0D52-BE28-05AE-5582-93E0F3B6AE4D}"/>
              </a:ext>
            </a:extLst>
          </p:cNvPr>
          <p:cNvSpPr/>
          <p:nvPr/>
        </p:nvSpPr>
        <p:spPr>
          <a:xfrm>
            <a:off x="525780" y="984115"/>
            <a:ext cx="2873202" cy="347472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2F5597"/>
                </a:solidFill>
                <a:latin typeface="Aptos"/>
              </a:rPr>
              <a:t>Why Validation?</a:t>
            </a:r>
          </a:p>
        </p:txBody>
      </p:sp>
    </p:spTree>
    <p:extLst>
      <p:ext uri="{BB962C8B-B14F-4D97-AF65-F5344CB8AC3E}">
        <p14:creationId xmlns:p14="http://schemas.microsoft.com/office/powerpoint/2010/main" val="2945593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A548D74-5A8E-C75B-6339-551E0E40CFFE}"/>
              </a:ext>
            </a:extLst>
          </p:cNvPr>
          <p:cNvSpPr txBox="1"/>
          <p:nvPr/>
        </p:nvSpPr>
        <p:spPr>
          <a:xfrm>
            <a:off x="502920" y="1097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Aptos"/>
              </a:rPr>
              <a:t>Truss Validation I: Nodal Loads and Support Displacement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3533F0FB-56C4-A623-0B80-9666C6B6A097}"/>
              </a:ext>
            </a:extLst>
          </p:cNvPr>
          <p:cNvSpPr/>
          <p:nvPr/>
        </p:nvSpPr>
        <p:spPr>
          <a:xfrm>
            <a:off x="594360" y="2112362"/>
            <a:ext cx="5486400" cy="3338484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746099EF-81DA-2D23-956D-34AF9E75259D}"/>
              </a:ext>
            </a:extLst>
          </p:cNvPr>
          <p:cNvSpPr/>
          <p:nvPr/>
        </p:nvSpPr>
        <p:spPr>
          <a:xfrm>
            <a:off x="594360" y="1472282"/>
            <a:ext cx="54864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682DDFC6-BD01-A395-34B8-2D39E204F122}"/>
              </a:ext>
            </a:extLst>
          </p:cNvPr>
          <p:cNvSpPr txBox="1"/>
          <p:nvPr/>
        </p:nvSpPr>
        <p:spPr>
          <a:xfrm>
            <a:off x="758952" y="1499254"/>
            <a:ext cx="16435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1A365D"/>
                </a:solidFill>
                <a:latin typeface="Aptos"/>
              </a:rPr>
              <a:t>Nodal Loads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87E84390-ACA2-95A6-357E-A40DA575B75C}"/>
              </a:ext>
            </a:extLst>
          </p:cNvPr>
          <p:cNvSpPr txBox="1"/>
          <p:nvPr/>
        </p:nvSpPr>
        <p:spPr>
          <a:xfrm>
            <a:off x="758952" y="2427045"/>
            <a:ext cx="5212080" cy="2542234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Node 11: 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Node 12: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Key check: reactions balance the applied forces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Observed behavior: reaction sums are consistent with global equilibrium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17AB1D13-9ADB-8BB5-38C7-870137665C1B}"/>
              </a:ext>
            </a:extLst>
          </p:cNvPr>
          <p:cNvSpPr/>
          <p:nvPr/>
        </p:nvSpPr>
        <p:spPr>
          <a:xfrm>
            <a:off x="6355080" y="2112362"/>
            <a:ext cx="5257800" cy="3338484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6D56381-A286-4305-7966-E2C928560AF5}"/>
              </a:ext>
            </a:extLst>
          </p:cNvPr>
          <p:cNvSpPr/>
          <p:nvPr/>
        </p:nvSpPr>
        <p:spPr>
          <a:xfrm>
            <a:off x="6355080" y="1472282"/>
            <a:ext cx="52578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860B071B-1195-57A9-606A-7F05FEFCE305}"/>
              </a:ext>
            </a:extLst>
          </p:cNvPr>
          <p:cNvSpPr txBox="1"/>
          <p:nvPr/>
        </p:nvSpPr>
        <p:spPr>
          <a:xfrm>
            <a:off x="6519672" y="1499254"/>
            <a:ext cx="282000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1A365D"/>
                </a:solidFill>
                <a:latin typeface="Aptos"/>
              </a:rPr>
              <a:t>Support Displacement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D360D5EA-3F47-3C6E-332C-AD7302E56A1A}"/>
              </a:ext>
            </a:extLst>
          </p:cNvPr>
          <p:cNvSpPr txBox="1"/>
          <p:nvPr/>
        </p:nvSpPr>
        <p:spPr>
          <a:xfrm>
            <a:off x="6519672" y="2427045"/>
            <a:ext cx="4983480" cy="2896177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Node 1: prescribed 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Key check: restrained-node displacement should match the input exactly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Observed behavior: the displacement table reports the imposed value correctly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Interpretation: this validates boundary-condition handling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C0B5E53-876B-F388-A56E-82ED3D8DE1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106303"/>
              </p:ext>
            </p:extLst>
          </p:nvPr>
        </p:nvGraphicFramePr>
        <p:xfrm>
          <a:off x="8761270" y="2484271"/>
          <a:ext cx="1282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680" imgH="330120" progId="Equation.DSMT4">
                  <p:embed/>
                </p:oleObj>
              </mc:Choice>
              <mc:Fallback>
                <p:oleObj name="Equation" r:id="rId2" imgW="1282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761270" y="2484271"/>
                        <a:ext cx="1282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A3AF52A-42CF-8E40-E499-F15B041C67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294950"/>
              </p:ext>
            </p:extLst>
          </p:nvPr>
        </p:nvGraphicFramePr>
        <p:xfrm>
          <a:off x="1894025" y="2493507"/>
          <a:ext cx="1384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200" imgH="330120" progId="Equation.DSMT4">
                  <p:embed/>
                </p:oleObj>
              </mc:Choice>
              <mc:Fallback>
                <p:oleObj name="Equation" r:id="rId4" imgW="13842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94025" y="2493507"/>
                        <a:ext cx="1384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2F90BE9-A2C3-26E6-760E-73F792C0C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356480"/>
              </p:ext>
            </p:extLst>
          </p:nvPr>
        </p:nvGraphicFramePr>
        <p:xfrm>
          <a:off x="1894025" y="2972640"/>
          <a:ext cx="1384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330120" progId="Equation.DSMT4">
                  <p:embed/>
                </p:oleObj>
              </mc:Choice>
              <mc:Fallback>
                <p:oleObj name="Equation" r:id="rId6" imgW="13842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94025" y="2972640"/>
                        <a:ext cx="1384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5291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46F1416-6F86-795A-3076-D7D532D61F32}"/>
              </a:ext>
            </a:extLst>
          </p:cNvPr>
          <p:cNvSpPr txBox="1"/>
          <p:nvPr/>
        </p:nvSpPr>
        <p:spPr>
          <a:xfrm>
            <a:off x="502920" y="1097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Aptos"/>
              </a:rPr>
              <a:t>Truss Validation II: Temperature and Fabrication Error</a:t>
            </a: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FAA5B889-B946-C424-7CB6-CB9FEB9849B2}"/>
              </a:ext>
            </a:extLst>
          </p:cNvPr>
          <p:cNvSpPr/>
          <p:nvPr/>
        </p:nvSpPr>
        <p:spPr>
          <a:xfrm>
            <a:off x="594360" y="2112362"/>
            <a:ext cx="5486400" cy="3338484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58A17C1-1CEE-D4FF-F0BF-A1D781377434}"/>
              </a:ext>
            </a:extLst>
          </p:cNvPr>
          <p:cNvSpPr/>
          <p:nvPr/>
        </p:nvSpPr>
        <p:spPr>
          <a:xfrm>
            <a:off x="594360" y="1472282"/>
            <a:ext cx="54864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FCE2566-ABAD-7C5E-F56A-9BDF2706D660}"/>
              </a:ext>
            </a:extLst>
          </p:cNvPr>
          <p:cNvSpPr txBox="1"/>
          <p:nvPr/>
        </p:nvSpPr>
        <p:spPr>
          <a:xfrm>
            <a:off x="758952" y="1499254"/>
            <a:ext cx="22841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1A365D"/>
                </a:solidFill>
                <a:latin typeface="Aptos"/>
              </a:rPr>
              <a:t>Temperature Load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A21E10E0-EA0D-8686-E2C4-FDCC3EC51394}"/>
              </a:ext>
            </a:extLst>
          </p:cNvPr>
          <p:cNvSpPr txBox="1"/>
          <p:nvPr/>
        </p:nvSpPr>
        <p:spPr>
          <a:xfrm>
            <a:off x="758952" y="2427045"/>
            <a:ext cx="5212080" cy="2188291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All 43 members: 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Thermal coefficient: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Expected axial strain: 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Purpose: verify thermal-load assembly in the truss solver</a:t>
            </a: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6C3904E8-B1DA-F067-8C9D-AAD6142ED0A3}"/>
              </a:ext>
            </a:extLst>
          </p:cNvPr>
          <p:cNvSpPr/>
          <p:nvPr/>
        </p:nvSpPr>
        <p:spPr>
          <a:xfrm>
            <a:off x="6355080" y="2112362"/>
            <a:ext cx="5257800" cy="3338484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1645BD6-CF42-9A34-A825-0F774C910DF3}"/>
              </a:ext>
            </a:extLst>
          </p:cNvPr>
          <p:cNvSpPr/>
          <p:nvPr/>
        </p:nvSpPr>
        <p:spPr>
          <a:xfrm>
            <a:off x="6355080" y="1472282"/>
            <a:ext cx="52578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17DBAA4E-DB45-26F2-543F-0BA3590CE858}"/>
              </a:ext>
            </a:extLst>
          </p:cNvPr>
          <p:cNvSpPr txBox="1"/>
          <p:nvPr/>
        </p:nvSpPr>
        <p:spPr>
          <a:xfrm>
            <a:off x="6519672" y="1499254"/>
            <a:ext cx="21373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1A365D"/>
                </a:solidFill>
                <a:latin typeface="Aptos"/>
              </a:rPr>
              <a:t>Fabrication Error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22483BA5-71B7-C050-345B-4367D01D0421}"/>
              </a:ext>
            </a:extLst>
          </p:cNvPr>
          <p:cNvSpPr txBox="1"/>
          <p:nvPr/>
        </p:nvSpPr>
        <p:spPr>
          <a:xfrm>
            <a:off x="6519672" y="2427045"/>
            <a:ext cx="4983480" cy="2542234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Element 6: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+0.01m </a:t>
            </a:r>
            <a:r>
              <a:rPr lang="en-US" altLang="zh-CN" sz="2000" dirty="0"/>
              <a:t>length error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Element 17: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-0.01m </a:t>
            </a:r>
            <a:r>
              <a:rPr lang="en-US" altLang="zh-CN" sz="2000" dirty="0"/>
              <a:t>length error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Purpose: convert local incompatibility into equivalent element actions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Observed behavior: moderate redistributed displacement field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BA30CE5-6BD7-3A75-E06A-DC1C369CF1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248217"/>
              </p:ext>
            </p:extLst>
          </p:nvPr>
        </p:nvGraphicFramePr>
        <p:xfrm>
          <a:off x="2717292" y="2518063"/>
          <a:ext cx="1295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241200" progId="Equation.DSMT4">
                  <p:embed/>
                </p:oleObj>
              </mc:Choice>
              <mc:Fallback>
                <p:oleObj name="Equation" r:id="rId2" imgW="12952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17292" y="2518063"/>
                        <a:ext cx="1295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229C77F-67D7-8A96-863B-5AC6BFBE05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784828"/>
              </p:ext>
            </p:extLst>
          </p:nvPr>
        </p:nvGraphicFramePr>
        <p:xfrm>
          <a:off x="3138631" y="2942243"/>
          <a:ext cx="11303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291960" progId="Equation.DSMT4">
                  <p:embed/>
                </p:oleObj>
              </mc:Choice>
              <mc:Fallback>
                <p:oleObj name="Equation" r:id="rId4" imgW="11300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38631" y="2942243"/>
                        <a:ext cx="11303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5F0EF41-3F1B-51A6-5954-C9F443CFEF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790995"/>
              </p:ext>
            </p:extLst>
          </p:nvPr>
        </p:nvGraphicFramePr>
        <p:xfrm>
          <a:off x="3564080" y="3429000"/>
          <a:ext cx="1816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15840" imgH="291960" progId="Equation.DSMT4">
                  <p:embed/>
                </p:oleObj>
              </mc:Choice>
              <mc:Fallback>
                <p:oleObj name="Equation" r:id="rId6" imgW="18158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564080" y="3429000"/>
                        <a:ext cx="18161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2340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4B8BBD9-9D74-E8D2-28CF-09DC0BE3CFBB}"/>
              </a:ext>
            </a:extLst>
          </p:cNvPr>
          <p:cNvSpPr txBox="1"/>
          <p:nvPr/>
        </p:nvSpPr>
        <p:spPr>
          <a:xfrm>
            <a:off x="502920" y="1097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Aptos"/>
              </a:rPr>
              <a:t>Frame Validation I: Nodal Moments and Member Loads</a:t>
            </a: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E2971056-C139-0922-23AF-EFE8C2039EC4}"/>
              </a:ext>
            </a:extLst>
          </p:cNvPr>
          <p:cNvSpPr/>
          <p:nvPr/>
        </p:nvSpPr>
        <p:spPr>
          <a:xfrm>
            <a:off x="594360" y="2112362"/>
            <a:ext cx="5486400" cy="3338484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C3D412F-0AA4-BC46-0114-57A9F4116A8E}"/>
              </a:ext>
            </a:extLst>
          </p:cNvPr>
          <p:cNvSpPr/>
          <p:nvPr/>
        </p:nvSpPr>
        <p:spPr>
          <a:xfrm>
            <a:off x="594360" y="1472282"/>
            <a:ext cx="54864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86AFDF33-E93C-1D1D-2096-E5D7C0EA5D7E}"/>
              </a:ext>
            </a:extLst>
          </p:cNvPr>
          <p:cNvSpPr txBox="1"/>
          <p:nvPr/>
        </p:nvSpPr>
        <p:spPr>
          <a:xfrm>
            <a:off x="758952" y="1499254"/>
            <a:ext cx="203895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1A365D"/>
                </a:solidFill>
                <a:latin typeface="Aptos"/>
              </a:rPr>
              <a:t>Nodal Moments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E527C49D-47BE-39E8-2413-92CA02FB45A3}"/>
              </a:ext>
            </a:extLst>
          </p:cNvPr>
          <p:cNvSpPr txBox="1"/>
          <p:nvPr/>
        </p:nvSpPr>
        <p:spPr>
          <a:xfrm>
            <a:off x="758952" y="2427045"/>
            <a:ext cx="5212080" cy="2767937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Selected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/>
              <a:t>and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dirty="0"/>
              <a:t> nodal moments are applied at intermediate floors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Purpose: show directional deformation in the 3D frame model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The case demonstrates bending-dominated frame behavior rather than pure axial response</a:t>
            </a: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FDFC11AF-E807-0B37-CE83-F1753BE9CA72}"/>
              </a:ext>
            </a:extLst>
          </p:cNvPr>
          <p:cNvSpPr/>
          <p:nvPr/>
        </p:nvSpPr>
        <p:spPr>
          <a:xfrm>
            <a:off x="6355080" y="2112362"/>
            <a:ext cx="5257800" cy="3338484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723D3D0A-0AEF-2C0F-C691-6262F2CBB2C0}"/>
              </a:ext>
            </a:extLst>
          </p:cNvPr>
          <p:cNvSpPr/>
          <p:nvPr/>
        </p:nvSpPr>
        <p:spPr>
          <a:xfrm>
            <a:off x="6355080" y="1472282"/>
            <a:ext cx="52578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4A8633C6-AD24-B72C-1802-D7DEDD5FB2D8}"/>
              </a:ext>
            </a:extLst>
          </p:cNvPr>
          <p:cNvSpPr txBox="1"/>
          <p:nvPr/>
        </p:nvSpPr>
        <p:spPr>
          <a:xfrm>
            <a:off x="6519672" y="1499254"/>
            <a:ext cx="328320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1A365D"/>
                </a:solidFill>
                <a:latin typeface="Aptos"/>
              </a:rPr>
              <a:t>Distributed Member Loads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C138144A-873B-D840-C9E5-697233F6EF6E}"/>
              </a:ext>
            </a:extLst>
          </p:cNvPr>
          <p:cNvSpPr txBox="1"/>
          <p:nvPr/>
        </p:nvSpPr>
        <p:spPr>
          <a:xfrm>
            <a:off x="6519672" y="2427045"/>
            <a:ext cx="4983480" cy="2542234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12 members: 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Total applied x-direction load: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Key check: reactions sum to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-2000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/>
              <a:t>in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Purpose: verify member-load conversion and reaction recovery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7AFAF38-CBC3-D203-A5EC-DA18424C1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477238"/>
              </p:ext>
            </p:extLst>
          </p:nvPr>
        </p:nvGraphicFramePr>
        <p:xfrm>
          <a:off x="8080663" y="2482461"/>
          <a:ext cx="1498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8320" imgH="330120" progId="Equation.DSMT4">
                  <p:embed/>
                </p:oleObj>
              </mc:Choice>
              <mc:Fallback>
                <p:oleObj name="Equation" r:id="rId2" imgW="14983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080663" y="2482461"/>
                        <a:ext cx="1498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4445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98B1E9A-51F5-5793-F313-F1C7D3BB1F9D}"/>
              </a:ext>
            </a:extLst>
          </p:cNvPr>
          <p:cNvSpPr txBox="1"/>
          <p:nvPr/>
        </p:nvSpPr>
        <p:spPr>
          <a:xfrm>
            <a:off x="502920" y="1097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Aptos"/>
              </a:rPr>
              <a:t>Frame Validation II: Moment Release and Support Displacement</a:t>
            </a: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95B9987C-49DF-F966-61EC-4EFC4A69A4D8}"/>
              </a:ext>
            </a:extLst>
          </p:cNvPr>
          <p:cNvSpPr/>
          <p:nvPr/>
        </p:nvSpPr>
        <p:spPr>
          <a:xfrm>
            <a:off x="594360" y="2112362"/>
            <a:ext cx="5486400" cy="3338484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76EC364-91E5-5AE1-B2FB-17693F9445A6}"/>
              </a:ext>
            </a:extLst>
          </p:cNvPr>
          <p:cNvSpPr/>
          <p:nvPr/>
        </p:nvSpPr>
        <p:spPr>
          <a:xfrm>
            <a:off x="594360" y="1472282"/>
            <a:ext cx="54864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A5A20E1C-3EE8-8FD4-B213-1F180D99C023}"/>
              </a:ext>
            </a:extLst>
          </p:cNvPr>
          <p:cNvSpPr txBox="1"/>
          <p:nvPr/>
        </p:nvSpPr>
        <p:spPr>
          <a:xfrm>
            <a:off x="758952" y="1499254"/>
            <a:ext cx="21451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1A365D"/>
                </a:solidFill>
                <a:latin typeface="Aptos"/>
              </a:rPr>
              <a:t>Moment Release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298C6708-3331-1B23-C9EE-F856D015D0AF}"/>
              </a:ext>
            </a:extLst>
          </p:cNvPr>
          <p:cNvSpPr txBox="1"/>
          <p:nvPr/>
        </p:nvSpPr>
        <p:spPr>
          <a:xfrm>
            <a:off x="758952" y="2427045"/>
            <a:ext cx="5212080" cy="2896177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Use the same member-load case with selected release codes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MT=1 </a:t>
            </a:r>
            <a:r>
              <a:rPr lang="en-US" altLang="zh-CN" sz="2000" dirty="0"/>
              <a:t>or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Expected trend: the released structure becomes softer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Observed result: max displacement rises from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12.764 m </a:t>
            </a:r>
            <a:r>
              <a:rPr lang="en-US" altLang="zh-CN" sz="2000" dirty="0"/>
              <a:t>to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16.353 m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Displacement increase: about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28.1%</a:t>
            </a: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B85A480B-ADBF-DE70-AE9B-7FE0F70E0D9E}"/>
              </a:ext>
            </a:extLst>
          </p:cNvPr>
          <p:cNvSpPr/>
          <p:nvPr/>
        </p:nvSpPr>
        <p:spPr>
          <a:xfrm>
            <a:off x="6355080" y="2112362"/>
            <a:ext cx="5257800" cy="3338484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2CD8D196-D97B-5EBE-805D-038BA0F296FE}"/>
              </a:ext>
            </a:extLst>
          </p:cNvPr>
          <p:cNvSpPr/>
          <p:nvPr/>
        </p:nvSpPr>
        <p:spPr>
          <a:xfrm>
            <a:off x="6355080" y="1472282"/>
            <a:ext cx="52578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BCAA3CD3-6673-E651-4700-497C20B364A3}"/>
              </a:ext>
            </a:extLst>
          </p:cNvPr>
          <p:cNvSpPr txBox="1"/>
          <p:nvPr/>
        </p:nvSpPr>
        <p:spPr>
          <a:xfrm>
            <a:off x="6519672" y="1499254"/>
            <a:ext cx="282000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1A365D"/>
                </a:solidFill>
                <a:latin typeface="Aptos"/>
              </a:rPr>
              <a:t>Support Displacement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506613D6-E05B-BEFF-A0C7-706C85C4145D}"/>
              </a:ext>
            </a:extLst>
          </p:cNvPr>
          <p:cNvSpPr txBox="1"/>
          <p:nvPr/>
        </p:nvSpPr>
        <p:spPr>
          <a:xfrm>
            <a:off x="6519672" y="2427045"/>
            <a:ext cx="4983480" cy="2896177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Node 1: 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Node 3: 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Key check: restrained-node displacements should equal the imposed values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Purpose: verify prescribed support movement in the frame solver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E6FB976-6742-E1BE-50D5-1C992D6105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841014"/>
              </p:ext>
            </p:extLst>
          </p:nvPr>
        </p:nvGraphicFramePr>
        <p:xfrm>
          <a:off x="7547841" y="2454753"/>
          <a:ext cx="232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380880" progId="Equation.DSMT4">
                  <p:embed/>
                </p:oleObj>
              </mc:Choice>
              <mc:Fallback>
                <p:oleObj name="Equation" r:id="rId2" imgW="2323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47841" y="2454753"/>
                        <a:ext cx="2324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3EEF630-C9AD-D17A-322C-9256E56EB1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282922"/>
              </p:ext>
            </p:extLst>
          </p:nvPr>
        </p:nvGraphicFramePr>
        <p:xfrm>
          <a:off x="7547841" y="2934527"/>
          <a:ext cx="232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23800" imgH="380880" progId="Equation.DSMT4">
                  <p:embed/>
                </p:oleObj>
              </mc:Choice>
              <mc:Fallback>
                <p:oleObj name="Equation" r:id="rId4" imgW="2323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47841" y="2934527"/>
                        <a:ext cx="2324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9283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5C3BE6C5-6A46-4B8E-4B17-377D852566C2}"/>
              </a:ext>
            </a:extLst>
          </p:cNvPr>
          <p:cNvSpPr/>
          <p:nvPr/>
        </p:nvSpPr>
        <p:spPr>
          <a:xfrm>
            <a:off x="594360" y="2112362"/>
            <a:ext cx="5486400" cy="3338484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CFBD039B-2CB2-81C4-B0EB-BFE2335DBCB5}"/>
              </a:ext>
            </a:extLst>
          </p:cNvPr>
          <p:cNvSpPr/>
          <p:nvPr/>
        </p:nvSpPr>
        <p:spPr>
          <a:xfrm>
            <a:off x="594360" y="1472282"/>
            <a:ext cx="54864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D5D627FE-654C-F149-768C-711B7C811D95}"/>
              </a:ext>
            </a:extLst>
          </p:cNvPr>
          <p:cNvSpPr txBox="1"/>
          <p:nvPr/>
        </p:nvSpPr>
        <p:spPr>
          <a:xfrm>
            <a:off x="758952" y="1499254"/>
            <a:ext cx="22841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1A365D"/>
                </a:solidFill>
                <a:latin typeface="Aptos"/>
              </a:rPr>
              <a:t>Temperature Load</a:t>
            </a:r>
          </a:p>
        </p:txBody>
      </p:sp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97A03FFF-D378-5C62-710C-086B91ED926C}"/>
              </a:ext>
            </a:extLst>
          </p:cNvPr>
          <p:cNvSpPr/>
          <p:nvPr/>
        </p:nvSpPr>
        <p:spPr>
          <a:xfrm>
            <a:off x="6355080" y="2112362"/>
            <a:ext cx="5257800" cy="3338484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9139F556-8284-93A9-6D74-E221197AE0AE}"/>
              </a:ext>
            </a:extLst>
          </p:cNvPr>
          <p:cNvSpPr/>
          <p:nvPr/>
        </p:nvSpPr>
        <p:spPr>
          <a:xfrm>
            <a:off x="6355080" y="1472282"/>
            <a:ext cx="52578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2500D70D-4FC8-BC29-4754-17ADB4B9ED92}"/>
              </a:ext>
            </a:extLst>
          </p:cNvPr>
          <p:cNvSpPr txBox="1"/>
          <p:nvPr/>
        </p:nvSpPr>
        <p:spPr>
          <a:xfrm>
            <a:off x="6519672" y="1499254"/>
            <a:ext cx="21373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1A365D"/>
                </a:solidFill>
                <a:latin typeface="Aptos"/>
              </a:rPr>
              <a:t>Fabrication Error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815E3AB0-54ED-2608-ED06-D1265E9F8C75}"/>
              </a:ext>
            </a:extLst>
          </p:cNvPr>
          <p:cNvSpPr txBox="1"/>
          <p:nvPr/>
        </p:nvSpPr>
        <p:spPr>
          <a:xfrm>
            <a:off x="6519672" y="2427045"/>
            <a:ext cx="4983480" cy="2060051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Element 5 and element 6: error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-0.01 m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Purpose: convert local incompatibility into equivalent element actions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Observed behavior: moderate redistributed displacement field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B4F6B79B-85C1-1498-8607-50FB73F44D9D}"/>
              </a:ext>
            </a:extLst>
          </p:cNvPr>
          <p:cNvSpPr txBox="1"/>
          <p:nvPr/>
        </p:nvSpPr>
        <p:spPr>
          <a:xfrm>
            <a:off x="502920" y="1097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Aptos"/>
              </a:rPr>
              <a:t>Frame Validation III: Temperature and Fabrication Error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DA523CFD-8462-F19B-CD9B-84CDBBE5A491}"/>
              </a:ext>
            </a:extLst>
          </p:cNvPr>
          <p:cNvSpPr txBox="1"/>
          <p:nvPr/>
        </p:nvSpPr>
        <p:spPr>
          <a:xfrm>
            <a:off x="758952" y="2427045"/>
            <a:ext cx="5212080" cy="2188291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All 43 members: 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Thermal coefficient: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Expected axial strain: 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Purpose: verify thermal-load assembly in the truss solver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01EC047-CD78-AD2A-F2F8-6DB52F4051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130450"/>
              </p:ext>
            </p:extLst>
          </p:nvPr>
        </p:nvGraphicFramePr>
        <p:xfrm>
          <a:off x="2717292" y="2518063"/>
          <a:ext cx="1295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241200" progId="Equation.DSMT4">
                  <p:embed/>
                </p:oleObj>
              </mc:Choice>
              <mc:Fallback>
                <p:oleObj name="Equation" r:id="rId2" imgW="1295280" imgH="2412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BA30CE5-6BD7-3A75-E06A-DC1C369CF1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17292" y="2518063"/>
                        <a:ext cx="1295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EF84C7A-96C5-631F-479F-20D347432B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873776"/>
              </p:ext>
            </p:extLst>
          </p:nvPr>
        </p:nvGraphicFramePr>
        <p:xfrm>
          <a:off x="3138631" y="2942243"/>
          <a:ext cx="11303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291960" progId="Equation.DSMT4">
                  <p:embed/>
                </p:oleObj>
              </mc:Choice>
              <mc:Fallback>
                <p:oleObj name="Equation" r:id="rId4" imgW="1130040" imgH="2919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229C77F-67D7-8A96-863B-5AC6BFBE05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38631" y="2942243"/>
                        <a:ext cx="11303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C051D5C-44AD-FB0E-1011-A711A482A4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994453"/>
              </p:ext>
            </p:extLst>
          </p:nvPr>
        </p:nvGraphicFramePr>
        <p:xfrm>
          <a:off x="3564080" y="3429000"/>
          <a:ext cx="1816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15840" imgH="291960" progId="Equation.DSMT4">
                  <p:embed/>
                </p:oleObj>
              </mc:Choice>
              <mc:Fallback>
                <p:oleObj name="Equation" r:id="rId6" imgW="1815840" imgH="2919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5F0EF41-3F1B-51A6-5954-C9F443CFE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564080" y="3429000"/>
                        <a:ext cx="18161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7149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A4B5E-7836-E789-5009-E8D64A03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2">
            <a:extLst>
              <a:ext uri="{FF2B5EF4-FFF2-40B4-BE49-F238E27FC236}">
                <a16:creationId xmlns:a16="http://schemas.microsoft.com/office/drawing/2014/main" id="{52BCEA51-79C2-9612-6349-EF5B2F36ED81}"/>
              </a:ext>
            </a:extLst>
          </p:cNvPr>
          <p:cNvSpPr txBox="1"/>
          <p:nvPr/>
        </p:nvSpPr>
        <p:spPr>
          <a:xfrm>
            <a:off x="502920" y="109728"/>
            <a:ext cx="631006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Aptos"/>
              </a:rPr>
              <a:t>Case Study: Jiujiang Yangtze River Bridge</a:t>
            </a:r>
            <a:endParaRPr sz="26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280E56B-8494-2277-CEEE-598E18601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3248"/>
            <a:ext cx="12192000" cy="4095504"/>
          </a:xfrm>
          <a:prstGeom prst="rect">
            <a:avLst/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B4BA8599-D6AA-1352-B2BF-EA00F97CA303}"/>
              </a:ext>
            </a:extLst>
          </p:cNvPr>
          <p:cNvSpPr txBox="1"/>
          <p:nvPr/>
        </p:nvSpPr>
        <p:spPr>
          <a:xfrm>
            <a:off x="3225808" y="5043799"/>
            <a:ext cx="6878774" cy="1352165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Three-span continuous arch-truss bridge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Total length: 576 m; span arrangement: 180 + 216 + 180 m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Modeled as a mixed truss-frame system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5837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1E7A38B-90A8-FF98-8B20-49475F8E4EA2}"/>
              </a:ext>
            </a:extLst>
          </p:cNvPr>
          <p:cNvSpPr txBox="1"/>
          <p:nvPr/>
        </p:nvSpPr>
        <p:spPr>
          <a:xfrm>
            <a:off x="502920" y="1097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Aptos"/>
              </a:rPr>
              <a:t>Final Bridge Model and Load Cases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B73DE772-18FA-7C92-91AA-20405D76685A}"/>
              </a:ext>
            </a:extLst>
          </p:cNvPr>
          <p:cNvSpPr/>
          <p:nvPr/>
        </p:nvSpPr>
        <p:spPr>
          <a:xfrm>
            <a:off x="594360" y="892053"/>
            <a:ext cx="2103120" cy="347472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rgbClr val="2F5597"/>
                </a:solidFill>
                <a:latin typeface="Aptos"/>
              </a:rPr>
              <a:t>Model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5C29150-8037-FCCD-C77B-52AB42EB2596}"/>
              </a:ext>
            </a:extLst>
          </p:cNvPr>
          <p:cNvSpPr txBox="1"/>
          <p:nvPr/>
        </p:nvSpPr>
        <p:spPr>
          <a:xfrm>
            <a:off x="673631" y="1922260"/>
            <a:ext cx="4495800" cy="2413994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dirty="0"/>
              <a:t>Three-span continuous arch-truss bridge based on the Jiujiang Yangtze River Bridge configuration.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dirty="0"/>
              <a:t>354 nodes and 1225 elements.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dirty="0"/>
              <a:t>Mixed idealization: 1145 truss elements + 80 frame elements.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1D57D9FD-5FD0-0221-AF81-1CFF815BE9D5}"/>
              </a:ext>
            </a:extLst>
          </p:cNvPr>
          <p:cNvSpPr/>
          <p:nvPr/>
        </p:nvSpPr>
        <p:spPr>
          <a:xfrm>
            <a:off x="5852160" y="892053"/>
            <a:ext cx="1920240" cy="347472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rgbClr val="2F5597"/>
                </a:solidFill>
                <a:latin typeface="Aptos"/>
              </a:rPr>
              <a:t>Load Files</a:t>
            </a: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E47BDB78-7C4A-812D-AAA6-C80833DA7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595720"/>
              </p:ext>
            </p:extLst>
          </p:nvPr>
        </p:nvGraphicFramePr>
        <p:xfrm>
          <a:off x="5440218" y="1376685"/>
          <a:ext cx="6126942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8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91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A365D"/>
                          </a:solidFill>
                          <a:latin typeface="Aptos"/>
                        </a:defRPr>
                      </a:pPr>
                      <a:r>
                        <a:rPr sz="2000" dirty="0"/>
                        <a:t>Load case</a:t>
                      </a:r>
                    </a:p>
                  </a:txBody>
                  <a:tcPr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A365D"/>
                          </a:solidFill>
                          <a:latin typeface="Aptos"/>
                        </a:defRPr>
                      </a:pPr>
                      <a:r>
                        <a:rPr sz="2000" dirty="0"/>
                        <a:t>Main loading description</a:t>
                      </a:r>
                    </a:p>
                  </a:txBody>
                  <a:tcPr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sz="2000" dirty="0"/>
                        <a:t>Nodal loads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sz="2000" dirty="0"/>
                        <a:t>130 loaded nodes with concentrated downward loads</a:t>
                      </a:r>
                      <a:r>
                        <a:rPr lang="en-US" sz="2000" dirty="0"/>
                        <a:t> (</a:t>
                      </a:r>
                      <a:r>
                        <a:rPr lang="en-US" altLang="zh-CN" sz="2000" dirty="0"/>
                        <a:t>full 3 spans</a:t>
                      </a:r>
                      <a:r>
                        <a:rPr lang="en-US" sz="2000" dirty="0"/>
                        <a:t>)</a:t>
                      </a:r>
                      <a:endParaRPr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sz="2000" dirty="0"/>
                        <a:t>Member loads only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sz="2000" dirty="0"/>
                        <a:t>350 members with</a:t>
                      </a:r>
                      <a:endParaRPr lang="en-US" sz="2000" dirty="0"/>
                    </a:p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lang="en-US" altLang="zh-CN" sz="2000" dirty="0"/>
                        <a:t>             (full 3 spans)</a:t>
                      </a:r>
                      <a:endParaRPr sz="2000" dirty="0"/>
                    </a:p>
                  </a:txBody>
                  <a:tcPr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sz="2000" dirty="0"/>
                        <a:t>Support </a:t>
                      </a:r>
                      <a:r>
                        <a:rPr lang="en-US" sz="2000" dirty="0" err="1"/>
                        <a:t>disp</a:t>
                      </a:r>
                      <a:r>
                        <a:rPr lang="en-US" sz="2000" dirty="0"/>
                        <a:t> </a:t>
                      </a:r>
                      <a:r>
                        <a:rPr sz="2000" dirty="0"/>
                        <a:t>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sz="2000" dirty="0"/>
                        <a:t>4 internal support nodes with </a:t>
                      </a:r>
                      <a:endParaRPr lang="en-US" sz="2000" dirty="0"/>
                    </a:p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lang="en-US" sz="2000" dirty="0"/>
                        <a:t>(middle 4 supports)</a:t>
                      </a:r>
                      <a:endParaRPr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sz="2000"/>
                        <a:t>Temperature only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sz="2000" dirty="0"/>
                        <a:t>All members:</a:t>
                      </a:r>
                      <a:endParaRPr lang="en-US" sz="2000" dirty="0"/>
                    </a:p>
                  </a:txBody>
                  <a:tcPr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sz="2000"/>
                        <a:t>Comprehensive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sz="2000" dirty="0"/>
                        <a:t>50 nodal loads, 40 loaded members, 8 support movements,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+50°</a:t>
                      </a:r>
                      <a:r>
                        <a:rPr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/>
                        <a:t>on all members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E9A7E5D-DE95-0169-3AD5-DCF3712462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216040"/>
              </p:ext>
            </p:extLst>
          </p:nvPr>
        </p:nvGraphicFramePr>
        <p:xfrm>
          <a:off x="9619973" y="3129257"/>
          <a:ext cx="167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76160" imgH="380880" progId="Equation.DSMT4">
                  <p:embed/>
                </p:oleObj>
              </mc:Choice>
              <mc:Fallback>
                <p:oleObj name="Equation" r:id="rId2" imgW="1676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619973" y="3129257"/>
                        <a:ext cx="1676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2FEF4EE-1675-9CAC-BDBA-1FD528099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929103"/>
              </p:ext>
            </p:extLst>
          </p:nvPr>
        </p:nvGraphicFramePr>
        <p:xfrm>
          <a:off x="7538545" y="3501021"/>
          <a:ext cx="60007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9652" imgH="245011" progId="Equation.DSMT4">
                  <p:embed/>
                </p:oleObj>
              </mc:Choice>
              <mc:Fallback>
                <p:oleObj name="Equation" r:id="rId4" imgW="599652" imgH="24501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38545" y="3501021"/>
                        <a:ext cx="600075" cy="24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5B01096-3FD5-F0F8-EC39-279684089A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208481"/>
              </p:ext>
            </p:extLst>
          </p:nvPr>
        </p:nvGraphicFramePr>
        <p:xfrm>
          <a:off x="9020995" y="4681681"/>
          <a:ext cx="1295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280" imgH="241200" progId="Equation.DSMT4">
                  <p:embed/>
                </p:oleObj>
              </mc:Choice>
              <mc:Fallback>
                <p:oleObj name="Equation" r:id="rId6" imgW="1295280" imgH="2412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A01EC047-CD78-AD2A-F2F8-6DB52F4051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020995" y="4681681"/>
                        <a:ext cx="1295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D73EE46-93A0-48D2-0E5F-5154FDF12A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350455"/>
              </p:ext>
            </p:extLst>
          </p:nvPr>
        </p:nvGraphicFramePr>
        <p:xfrm>
          <a:off x="7536526" y="4941453"/>
          <a:ext cx="11303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30040" imgH="291960" progId="Equation.DSMT4">
                  <p:embed/>
                </p:oleObj>
              </mc:Choice>
              <mc:Fallback>
                <p:oleObj name="Equation" r:id="rId8" imgW="1130040" imgH="2919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DDB5AF5A-F899-7A49-B8BD-1240B44411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536526" y="4941453"/>
                        <a:ext cx="11303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9325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C1414B2-577D-BAC4-F45B-B5B986080C91}"/>
              </a:ext>
            </a:extLst>
          </p:cNvPr>
          <p:cNvSpPr txBox="1"/>
          <p:nvPr/>
        </p:nvSpPr>
        <p:spPr>
          <a:xfrm>
            <a:off x="502920" y="1097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Aptos"/>
              </a:rPr>
              <a:t>Comprehensive Bridge Case: Load Balance and Key Responses</a:t>
            </a:r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E288DA15-EBE8-98E2-53FA-7A7ED6E51DA9}"/>
              </a:ext>
            </a:extLst>
          </p:cNvPr>
          <p:cNvSpPr/>
          <p:nvPr/>
        </p:nvSpPr>
        <p:spPr>
          <a:xfrm>
            <a:off x="594360" y="1779855"/>
            <a:ext cx="5486400" cy="3949524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A781F1-D2E9-584B-3DAF-648164823B40}"/>
              </a:ext>
            </a:extLst>
          </p:cNvPr>
          <p:cNvSpPr/>
          <p:nvPr/>
        </p:nvSpPr>
        <p:spPr>
          <a:xfrm>
            <a:off x="594360" y="1139775"/>
            <a:ext cx="54864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95DAB240-6B2C-676E-E079-0447B8EA150F}"/>
              </a:ext>
            </a:extLst>
          </p:cNvPr>
          <p:cNvSpPr txBox="1"/>
          <p:nvPr/>
        </p:nvSpPr>
        <p:spPr>
          <a:xfrm>
            <a:off x="758952" y="1166747"/>
            <a:ext cx="20249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1A365D"/>
                </a:solidFill>
                <a:latin typeface="Aptos"/>
              </a:rPr>
              <a:t>Applied Actions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A9DFC6FE-2D13-4C20-FC27-40781811242D}"/>
              </a:ext>
            </a:extLst>
          </p:cNvPr>
          <p:cNvSpPr txBox="1"/>
          <p:nvPr/>
        </p:nvSpPr>
        <p:spPr>
          <a:xfrm>
            <a:off x="758952" y="2094538"/>
            <a:ext cx="5212080" cy="3634841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50 nodal loads with total vertical load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endParaRPr lang="en-US" altLang="zh-CN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40 loaded members with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	 → total distributed vertical load 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endParaRPr lang="en-US" altLang="zh-CN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8 support movements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Uniform temperature rise: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+50°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/>
              <a:t>on all members</a:t>
            </a: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C92864DA-FEC0-8B73-3D71-05868A661C26}"/>
              </a:ext>
            </a:extLst>
          </p:cNvPr>
          <p:cNvSpPr/>
          <p:nvPr/>
        </p:nvSpPr>
        <p:spPr>
          <a:xfrm>
            <a:off x="6355080" y="1779855"/>
            <a:ext cx="5257800" cy="3949524"/>
          </a:xfrm>
          <a:prstGeom prst="roundRect">
            <a:avLst/>
          </a:prstGeom>
          <a:solidFill>
            <a:srgbClr val="F8FA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BEC0C1A8-0D81-643F-21E7-32946F882C33}"/>
              </a:ext>
            </a:extLst>
          </p:cNvPr>
          <p:cNvSpPr/>
          <p:nvPr/>
        </p:nvSpPr>
        <p:spPr>
          <a:xfrm>
            <a:off x="6355080" y="1139775"/>
            <a:ext cx="5257800" cy="457200"/>
          </a:xfrm>
          <a:prstGeom prst="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50D03F43-BCEB-0ED7-A37B-0F096E71EF00}"/>
              </a:ext>
            </a:extLst>
          </p:cNvPr>
          <p:cNvSpPr txBox="1"/>
          <p:nvPr/>
        </p:nvSpPr>
        <p:spPr>
          <a:xfrm>
            <a:off x="6519672" y="1166747"/>
            <a:ext cx="15456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1A365D"/>
                </a:solidFill>
                <a:latin typeface="Aptos"/>
              </a:rPr>
              <a:t>Key Results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D62827E6-6B2C-5C0E-220C-798B0FAA03EA}"/>
              </a:ext>
            </a:extLst>
          </p:cNvPr>
          <p:cNvSpPr txBox="1"/>
          <p:nvPr/>
        </p:nvSpPr>
        <p:spPr>
          <a:xfrm>
            <a:off x="6519672" y="2094538"/>
            <a:ext cx="4983480" cy="3506601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Total applied vertical mechanical load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 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Support reactions sum to  	           in z axis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Maximum total displacement: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3.2791 m </a:t>
            </a:r>
            <a:r>
              <a:rPr lang="en-US" altLang="zh-CN" sz="2000" dirty="0"/>
              <a:t>at node 350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Largest vertical displacement: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lang="en-US" altLang="zh-CN" sz="2000" dirty="0"/>
              <a:t> 	                at node 181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EF0BAFC2-AB59-5672-2528-D58B3CAE9B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932119"/>
              </p:ext>
            </p:extLst>
          </p:nvPr>
        </p:nvGraphicFramePr>
        <p:xfrm>
          <a:off x="3932093" y="3074242"/>
          <a:ext cx="1943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380880" progId="Equation.DSMT4">
                  <p:embed/>
                </p:oleObj>
              </mc:Choice>
              <mc:Fallback>
                <p:oleObj name="Equation" r:id="rId2" imgW="19429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32093" y="3074242"/>
                        <a:ext cx="1943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5F92107F-5394-D880-4810-0AB32C480E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164810"/>
              </p:ext>
            </p:extLst>
          </p:nvPr>
        </p:nvGraphicFramePr>
        <p:xfrm>
          <a:off x="1171333" y="3625273"/>
          <a:ext cx="60007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9652" imgH="245011" progId="Equation.DSMT4">
                  <p:embed/>
                </p:oleObj>
              </mc:Choice>
              <mc:Fallback>
                <p:oleObj name="Equation" r:id="rId4" imgW="599652" imgH="24501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71333" y="3625273"/>
                        <a:ext cx="600075" cy="24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62E67C6C-77E4-F885-474A-545595C943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469"/>
              </p:ext>
            </p:extLst>
          </p:nvPr>
        </p:nvGraphicFramePr>
        <p:xfrm>
          <a:off x="1211406" y="4115954"/>
          <a:ext cx="1143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253800" progId="Equation.DSMT4">
                  <p:embed/>
                </p:oleObj>
              </mc:Choice>
              <mc:Fallback>
                <p:oleObj name="Equation" r:id="rId6" imgW="1143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11406" y="4115954"/>
                        <a:ext cx="11430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6C7A92F-AA1E-A97C-9A1A-7F07D895A0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580295"/>
              </p:ext>
            </p:extLst>
          </p:nvPr>
        </p:nvGraphicFramePr>
        <p:xfrm>
          <a:off x="5261558" y="3697576"/>
          <a:ext cx="1778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152280" progId="Equation.DSMT4">
                  <p:embed/>
                </p:oleObj>
              </mc:Choice>
              <mc:Fallback>
                <p:oleObj name="Equation" r:id="rId8" imgW="17748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61558" y="3697576"/>
                        <a:ext cx="177800" cy="15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7B7203AE-FC51-1DEB-270E-39AB46A689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138905"/>
              </p:ext>
            </p:extLst>
          </p:nvPr>
        </p:nvGraphicFramePr>
        <p:xfrm>
          <a:off x="6929438" y="2639293"/>
          <a:ext cx="1130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30040" imgH="253800" progId="Equation.DSMT4">
                  <p:embed/>
                </p:oleObj>
              </mc:Choice>
              <mc:Fallback>
                <p:oleObj name="Equation" r:id="rId10" imgW="11300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929438" y="2639293"/>
                        <a:ext cx="11303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C03D569-FB88-2B61-52AB-6B6E9758E1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001985"/>
              </p:ext>
            </p:extLst>
          </p:nvPr>
        </p:nvGraphicFramePr>
        <p:xfrm>
          <a:off x="5350458" y="2247712"/>
          <a:ext cx="1778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8573" imgH="152645" progId="Equation.DSMT4">
                  <p:embed/>
                </p:oleObj>
              </mc:Choice>
              <mc:Fallback>
                <p:oleObj name="Equation" r:id="rId12" imgW="178573" imgH="15264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350458" y="2247712"/>
                        <a:ext cx="177800" cy="15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89436F2A-1E24-FC5C-4F32-9626884652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545049"/>
              </p:ext>
            </p:extLst>
          </p:nvPr>
        </p:nvGraphicFramePr>
        <p:xfrm>
          <a:off x="1195245" y="2656756"/>
          <a:ext cx="1003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02960" imgH="253800" progId="Equation.DSMT4">
                  <p:embed/>
                </p:oleObj>
              </mc:Choice>
              <mc:Fallback>
                <p:oleObj name="Equation" r:id="rId14" imgW="10029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95245" y="2656756"/>
                        <a:ext cx="10033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D1C7E9EC-7AEE-42D3-3BA0-E4AEDA126A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688556"/>
              </p:ext>
            </p:extLst>
          </p:nvPr>
        </p:nvGraphicFramePr>
        <p:xfrm>
          <a:off x="9775975" y="3122613"/>
          <a:ext cx="990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90360" imgH="253800" progId="Equation.DSMT4">
                  <p:embed/>
                </p:oleObj>
              </mc:Choice>
              <mc:Fallback>
                <p:oleObj name="Equation" r:id="rId16" imgW="9903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775975" y="3122613"/>
                        <a:ext cx="990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2D4E73BD-5FE6-F498-3C1F-9A09F0BC3C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568591"/>
              </p:ext>
            </p:extLst>
          </p:nvPr>
        </p:nvGraphicFramePr>
        <p:xfrm>
          <a:off x="6929438" y="5257368"/>
          <a:ext cx="1397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97624" imgH="330852" progId="Equation.DSMT4">
                  <p:embed/>
                </p:oleObj>
              </mc:Choice>
              <mc:Fallback>
                <p:oleObj name="Equation" r:id="rId18" imgW="1397624" imgH="33085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929438" y="5257368"/>
                        <a:ext cx="1397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7710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BFDFF70-CFB3-9996-6228-476E635F297A}"/>
              </a:ext>
            </a:extLst>
          </p:cNvPr>
          <p:cNvSpPr txBox="1"/>
          <p:nvPr/>
        </p:nvSpPr>
        <p:spPr>
          <a:xfrm>
            <a:off x="502920" y="10972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Aptos"/>
              </a:rPr>
              <a:t>Main Takeaways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A52A7FF7-3B09-E13E-ACF1-2F2793371591}"/>
              </a:ext>
            </a:extLst>
          </p:cNvPr>
          <p:cNvSpPr/>
          <p:nvPr/>
        </p:nvSpPr>
        <p:spPr>
          <a:xfrm>
            <a:off x="594360" y="1298448"/>
            <a:ext cx="2103120" cy="347472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rgbClr val="2F5597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992C905F-3871-A7C3-738C-1D7F40A178CC}"/>
              </a:ext>
            </a:extLst>
          </p:cNvPr>
          <p:cNvSpPr txBox="1"/>
          <p:nvPr/>
        </p:nvSpPr>
        <p:spPr>
          <a:xfrm>
            <a:off x="731520" y="1783080"/>
            <a:ext cx="10607040" cy="2060051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The validation cases support the correctness of equilibrium, compatibility, thermal strain, member-load </a:t>
            </a:r>
            <a:r>
              <a:rPr lang="en-US" sz="2000" dirty="0"/>
              <a:t>calculation</a:t>
            </a:r>
            <a:r>
              <a:rPr sz="2000" dirty="0"/>
              <a:t>, and release handling.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The hybrid solver can analyze a much larger mixed truss-frame system in one global model.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For the bridge, critical axial forces concentrate near support-adjacent truss members, while large bending moments concentrate in the arch ribs.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C7E95B2B-CDEF-5804-C47F-7F32EFAA07DD}"/>
              </a:ext>
            </a:extLst>
          </p:cNvPr>
          <p:cNvSpPr/>
          <p:nvPr/>
        </p:nvSpPr>
        <p:spPr>
          <a:xfrm>
            <a:off x="2834640" y="5257800"/>
            <a:ext cx="6492240" cy="685800"/>
          </a:xfrm>
          <a:prstGeom prst="roundRect">
            <a:avLst/>
          </a:prstGeom>
          <a:solidFill>
            <a:srgbClr val="EAF1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1A365D"/>
                </a:solidFill>
                <a:latin typeface="Aptos"/>
              </a:rPr>
              <a:t>Questions?</a:t>
            </a:r>
            <a:endParaRPr sz="2800" b="1" dirty="0">
              <a:solidFill>
                <a:srgbClr val="1A365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89057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797</Words>
  <Application>Microsoft Office PowerPoint</Application>
  <PresentationFormat>宽屏</PresentationFormat>
  <Paragraphs>129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Aptos</vt:lpstr>
      <vt:lpstr>Arial</vt:lpstr>
      <vt:lpstr>Times New Roman</vt:lpstr>
      <vt:lpstr>Wingdings</vt:lpstr>
      <vt:lpstr>Office 主题​​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斯远 汪</dc:creator>
  <cp:lastModifiedBy>斯远 汪</cp:lastModifiedBy>
  <cp:revision>23</cp:revision>
  <dcterms:created xsi:type="dcterms:W3CDTF">2026-04-23T13:16:08Z</dcterms:created>
  <dcterms:modified xsi:type="dcterms:W3CDTF">2026-04-24T00:04:39Z</dcterms:modified>
</cp:coreProperties>
</file>